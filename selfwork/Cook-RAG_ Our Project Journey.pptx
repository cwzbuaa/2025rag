
<file path=[Content_Types].xml><?xml version="1.0" encoding="utf-8"?>
<Types xmlns="http://schemas.openxmlformats.org/package/2006/content-types">
  <Default Extension="gif" ContentType="image/gif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5" r:id="rId3"/>
    <p:sldId id="266" r:id="rId4"/>
    <p:sldId id="267" r:id="rId5"/>
    <p:sldId id="268" r:id="rId6"/>
    <p:sldId id="271" r:id="rId7"/>
    <p:sldId id="257" r:id="rId8"/>
    <p:sldId id="258" r:id="rId9"/>
    <p:sldId id="259" r:id="rId10"/>
    <p:sldId id="260" r:id="rId11"/>
    <p:sldId id="262" r:id="rId12"/>
    <p:sldId id="269" r:id="rId13"/>
    <p:sldId id="270" r:id="rId14"/>
    <p:sldId id="263" r:id="rId15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368"/>
    <p:restoredTop sz="94760"/>
  </p:normalViewPr>
  <p:slideViewPr>
    <p:cSldViewPr>
      <p:cViewPr varScale="1">
        <p:scale>
          <a:sx n="53" d="100"/>
          <a:sy n="53" d="100"/>
        </p:scale>
        <p:origin x="232" y="6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00" b="0" i="0">
                <a:solidFill>
                  <a:srgbClr val="C14103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00" b="0" i="0">
                <a:solidFill>
                  <a:srgbClr val="C14103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00" b="0" i="0">
                <a:solidFill>
                  <a:srgbClr val="C14103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00" b="0" i="0">
                <a:solidFill>
                  <a:srgbClr val="C14103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0439" y="909391"/>
            <a:ext cx="14563090" cy="869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00" b="0" i="0">
                <a:solidFill>
                  <a:srgbClr val="C14103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g"/><Relationship Id="rId13" Type="http://schemas.openxmlformats.org/officeDocument/2006/relationships/image" Target="../media/image23.jpg"/><Relationship Id="rId18" Type="http://schemas.openxmlformats.org/officeDocument/2006/relationships/image" Target="../media/image28.jpg"/><Relationship Id="rId3" Type="http://schemas.openxmlformats.org/officeDocument/2006/relationships/image" Target="../media/image13.jpg"/><Relationship Id="rId7" Type="http://schemas.openxmlformats.org/officeDocument/2006/relationships/image" Target="../media/image17.png"/><Relationship Id="rId12" Type="http://schemas.openxmlformats.org/officeDocument/2006/relationships/image" Target="../media/image22.jpg"/><Relationship Id="rId17" Type="http://schemas.openxmlformats.org/officeDocument/2006/relationships/image" Target="../media/image27.jpg"/><Relationship Id="rId2" Type="http://schemas.openxmlformats.org/officeDocument/2006/relationships/image" Target="../media/image12.jpg"/><Relationship Id="rId16" Type="http://schemas.openxmlformats.org/officeDocument/2006/relationships/image" Target="../media/image2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jpg"/><Relationship Id="rId5" Type="http://schemas.openxmlformats.org/officeDocument/2006/relationships/image" Target="../media/image15.jpg"/><Relationship Id="rId15" Type="http://schemas.openxmlformats.org/officeDocument/2006/relationships/image" Target="../media/image25.jpg"/><Relationship Id="rId10" Type="http://schemas.openxmlformats.org/officeDocument/2006/relationships/image" Target="../media/image20.jpg"/><Relationship Id="rId4" Type="http://schemas.openxmlformats.org/officeDocument/2006/relationships/image" Target="../media/image14.png"/><Relationship Id="rId9" Type="http://schemas.openxmlformats.org/officeDocument/2006/relationships/image" Target="../media/image19.jpg"/><Relationship Id="rId14" Type="http://schemas.openxmlformats.org/officeDocument/2006/relationships/image" Target="../media/image24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33B090ED-3E64-9FA1-D352-1DE6B9FBD84F}"/>
              </a:ext>
            </a:extLst>
          </p:cNvPr>
          <p:cNvSpPr txBox="1"/>
          <p:nvPr/>
        </p:nvSpPr>
        <p:spPr>
          <a:xfrm>
            <a:off x="12185650" y="854075"/>
            <a:ext cx="342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封面页：标题、项目内容、汇报日期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65F90-347F-9710-2241-78F30DCA6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1DBA8698-8F6E-30C2-E264-BFFF8988669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E95BA300-076D-652D-F806-EAF1BE5A34A1}"/>
              </a:ext>
            </a:extLst>
          </p:cNvPr>
          <p:cNvSpPr txBox="1"/>
          <p:nvPr/>
        </p:nvSpPr>
        <p:spPr>
          <a:xfrm>
            <a:off x="9366250" y="1158875"/>
            <a:ext cx="784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</a:rPr>
              <a:t>这一页是引入：主要介绍</a:t>
            </a:r>
            <a:r>
              <a:rPr kumimoji="1" lang="en-US" altLang="zh-CN" dirty="0">
                <a:solidFill>
                  <a:srgbClr val="FF0000"/>
                </a:solidFill>
              </a:rPr>
              <a:t>rag</a:t>
            </a:r>
            <a:r>
              <a:rPr kumimoji="1" lang="zh-CN" altLang="en-US" dirty="0">
                <a:solidFill>
                  <a:srgbClr val="FF0000"/>
                </a:solidFill>
              </a:rPr>
              <a:t>技术提出背景，</a:t>
            </a:r>
            <a:r>
              <a:rPr kumimoji="1" lang="en-US" altLang="zh-CN" dirty="0">
                <a:solidFill>
                  <a:srgbClr val="FF0000"/>
                </a:solidFill>
              </a:rPr>
              <a:t>1</a:t>
            </a:r>
            <a:r>
              <a:rPr kumimoji="1" lang="zh-CN" altLang="en-US" dirty="0">
                <a:solidFill>
                  <a:srgbClr val="FF0000"/>
                </a:solidFill>
              </a:rPr>
              <a:t>是大模型缺陷，</a:t>
            </a:r>
            <a:r>
              <a:rPr kumimoji="1" lang="en-US" altLang="zh-CN" dirty="0">
                <a:solidFill>
                  <a:srgbClr val="FF0000"/>
                </a:solidFill>
              </a:rPr>
              <a:t>2</a:t>
            </a:r>
            <a:r>
              <a:rPr kumimoji="1" lang="zh-CN" altLang="en-US" dirty="0">
                <a:solidFill>
                  <a:srgbClr val="FF0000"/>
                </a:solidFill>
              </a:rPr>
              <a:t>是实际应用需求。去网上搜一下</a:t>
            </a:r>
          </a:p>
        </p:txBody>
      </p:sp>
    </p:spTree>
    <p:extLst>
      <p:ext uri="{BB962C8B-B14F-4D97-AF65-F5344CB8AC3E}">
        <p14:creationId xmlns:p14="http://schemas.microsoft.com/office/powerpoint/2010/main" val="10297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3C07F95D-ED41-9957-7945-2A1299345202}"/>
              </a:ext>
            </a:extLst>
          </p:cNvPr>
          <p:cNvSpPr txBox="1"/>
          <p:nvPr/>
        </p:nvSpPr>
        <p:spPr>
          <a:xfrm>
            <a:off x="10052050" y="549275"/>
            <a:ext cx="5791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</a:rPr>
              <a:t>这一页是</a:t>
            </a:r>
            <a:r>
              <a:rPr kumimoji="1" lang="en-US" altLang="zh-CN" dirty="0">
                <a:solidFill>
                  <a:srgbClr val="FF0000"/>
                </a:solidFill>
              </a:rPr>
              <a:t>RAG</a:t>
            </a:r>
            <a:r>
              <a:rPr kumimoji="1" lang="zh-CN" altLang="en-US" dirty="0">
                <a:solidFill>
                  <a:srgbClr val="FF0000"/>
                </a:solidFill>
              </a:rPr>
              <a:t>简介，介绍</a:t>
            </a:r>
            <a:r>
              <a:rPr kumimoji="1" lang="en-US" altLang="zh-CN" dirty="0">
                <a:solidFill>
                  <a:srgbClr val="FF0000"/>
                </a:solidFill>
              </a:rPr>
              <a:t>RAG</a:t>
            </a:r>
            <a:r>
              <a:rPr kumimoji="1" lang="zh-CN" altLang="en-US" dirty="0">
                <a:solidFill>
                  <a:srgbClr val="FF0000"/>
                </a:solidFill>
              </a:rPr>
              <a:t>的定义、与其他优化方式的对比（微调、提示词工程、长上下文处理等等）（列个表）。用词专业一点。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AC8F38-FF15-2CB1-33C4-23274D17FC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6777" y="4103731"/>
            <a:ext cx="10362067" cy="429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1309A805-1C02-0760-D32D-D9124ADCFFCE}"/>
              </a:ext>
            </a:extLst>
          </p:cNvPr>
          <p:cNvSpPr txBox="1"/>
          <p:nvPr/>
        </p:nvSpPr>
        <p:spPr>
          <a:xfrm>
            <a:off x="10280650" y="1006475"/>
            <a:ext cx="5715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</a:rPr>
              <a:t>这一页介绍</a:t>
            </a:r>
            <a:r>
              <a:rPr kumimoji="1" lang="en-US" altLang="zh-CN" dirty="0">
                <a:solidFill>
                  <a:srgbClr val="FF0000"/>
                </a:solidFill>
              </a:rPr>
              <a:t>rag</a:t>
            </a:r>
            <a:r>
              <a:rPr kumimoji="1" lang="zh-CN" altLang="en-US" dirty="0">
                <a:solidFill>
                  <a:srgbClr val="FF0000"/>
                </a:solidFill>
              </a:rPr>
              <a:t>核心工作流：嵌入、检索、召回、生成等等，画两个流程图，分别对应索引阶段和检索生成阶段，忽略左边文字</a:t>
            </a:r>
            <a:endParaRPr kumimoji="1" lang="en-US" altLang="zh-CN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34E51-B4F5-D2C1-8819-268CDE363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0C75314A-5D58-F170-7807-A0B1DE0975A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  <p:pic>
        <p:nvPicPr>
          <p:cNvPr id="5" name="图片 4" descr="社交网站的手机截图&#10;&#10;AI 生成的内容可能不正确。">
            <a:extLst>
              <a:ext uri="{FF2B5EF4-FFF2-40B4-BE49-F238E27FC236}">
                <a16:creationId xmlns:a16="http://schemas.microsoft.com/office/drawing/2014/main" id="{EBE594A7-D8D0-7D03-B85A-6712D02ADA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0400" y="-90729"/>
            <a:ext cx="7772400" cy="3217232"/>
          </a:xfrm>
          <a:prstGeom prst="rect">
            <a:avLst/>
          </a:prstGeom>
        </p:spPr>
      </p:pic>
      <p:pic>
        <p:nvPicPr>
          <p:cNvPr id="7" name="图片 6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3E493DA8-77BB-B4E7-4242-1CBFD7FC08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25777" y="3521075"/>
            <a:ext cx="7772400" cy="3209148"/>
          </a:xfrm>
          <a:prstGeom prst="rect">
            <a:avLst/>
          </a:prstGeom>
        </p:spPr>
      </p:pic>
      <p:pic>
        <p:nvPicPr>
          <p:cNvPr id="9" name="图片 8" descr="图片包含 图形用户界面&#10;&#10;AI 生成的内容可能不正确。">
            <a:extLst>
              <a:ext uri="{FF2B5EF4-FFF2-40B4-BE49-F238E27FC236}">
                <a16:creationId xmlns:a16="http://schemas.microsoft.com/office/drawing/2014/main" id="{E247F468-E44F-98D0-F759-6CEA353E80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3650" y="7684879"/>
            <a:ext cx="7772400" cy="3623677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D1BF0602-1D90-B163-0320-C012BC4F713C}"/>
              </a:ext>
            </a:extLst>
          </p:cNvPr>
          <p:cNvSpPr txBox="1"/>
          <p:nvPr/>
        </p:nvSpPr>
        <p:spPr>
          <a:xfrm>
            <a:off x="5937250" y="549275"/>
            <a:ext cx="5715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</a:rPr>
              <a:t>这一页介绍</a:t>
            </a:r>
            <a:r>
              <a:rPr kumimoji="1" lang="en-US" altLang="zh-CN" dirty="0">
                <a:solidFill>
                  <a:srgbClr val="FF0000"/>
                </a:solidFill>
              </a:rPr>
              <a:t>rag</a:t>
            </a:r>
            <a:r>
              <a:rPr kumimoji="1" lang="zh-CN" altLang="en-US" dirty="0">
                <a:solidFill>
                  <a:srgbClr val="FF0000"/>
                </a:solidFill>
              </a:rPr>
              <a:t>三个关键问题，忽略左边这些文字，重新弄一些，参考右边三个图，同时要能过度到下一张：为解决这三个问题，</a:t>
            </a:r>
            <a:r>
              <a:rPr kumimoji="1" lang="en-US" altLang="zh-CN" dirty="0">
                <a:solidFill>
                  <a:srgbClr val="FF0000"/>
                </a:solidFill>
              </a:rPr>
              <a:t>rag</a:t>
            </a:r>
            <a:r>
              <a:rPr kumimoji="1" lang="zh-CN" altLang="en-US" dirty="0">
                <a:solidFill>
                  <a:srgbClr val="FF0000"/>
                </a:solidFill>
              </a:rPr>
              <a:t>一直在不断演进。</a:t>
            </a:r>
            <a:endParaRPr kumimoji="1" lang="en-US" altLang="zh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9960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DF471-8960-0B9D-B3DD-D9E7828D8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8FD69FD3-F0E1-EB37-7B5B-DD82646448E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A3E0C244-31D1-B1F9-234E-524CC61FD93E}"/>
              </a:ext>
            </a:extLst>
          </p:cNvPr>
          <p:cNvSpPr txBox="1"/>
          <p:nvPr/>
        </p:nvSpPr>
        <p:spPr>
          <a:xfrm>
            <a:off x="10280650" y="1006475"/>
            <a:ext cx="5715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</a:rPr>
              <a:t>这一页介绍</a:t>
            </a:r>
            <a:r>
              <a:rPr kumimoji="1" lang="en-US" altLang="zh-CN" dirty="0">
                <a:solidFill>
                  <a:srgbClr val="FF0000"/>
                </a:solidFill>
              </a:rPr>
              <a:t>rag</a:t>
            </a:r>
            <a:r>
              <a:rPr kumimoji="1" lang="zh-CN" altLang="en-US" dirty="0">
                <a:solidFill>
                  <a:srgbClr val="FF0000"/>
                </a:solidFill>
              </a:rPr>
              <a:t>架构的演进，参考右边图。引出</a:t>
            </a:r>
            <a:r>
              <a:rPr kumimoji="1" lang="en-US" altLang="zh-CN" dirty="0" err="1">
                <a:solidFill>
                  <a:srgbClr val="FF0000"/>
                </a:solidFill>
              </a:rPr>
              <a:t>agentrag</a:t>
            </a:r>
            <a:r>
              <a:rPr kumimoji="1" lang="zh-CN" altLang="en-US" dirty="0">
                <a:solidFill>
                  <a:srgbClr val="FF0000"/>
                </a:solidFill>
              </a:rPr>
              <a:t>（这部分图里没有，但是必须重点介绍，上网找一下），忽略左边文字。</a:t>
            </a:r>
            <a:endParaRPr kumimoji="1" lang="en-US" altLang="zh-CN" dirty="0">
              <a:solidFill>
                <a:srgbClr val="FF0000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E4B27DE-EF31-CBA3-DCCE-FB54C429A9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5050" y="2911475"/>
            <a:ext cx="8120827" cy="4973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775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439F20E8-C959-219F-00D3-C191C0880FC0}"/>
              </a:ext>
            </a:extLst>
          </p:cNvPr>
          <p:cNvSpPr txBox="1"/>
          <p:nvPr/>
        </p:nvSpPr>
        <p:spPr>
          <a:xfrm>
            <a:off x="8223250" y="1311275"/>
            <a:ext cx="5715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</a:rPr>
              <a:t>这一页是我们的项目简介，参考</a:t>
            </a:r>
            <a:r>
              <a:rPr kumimoji="1" lang="en-US" altLang="zh-CN" dirty="0">
                <a:solidFill>
                  <a:srgbClr val="FF0000"/>
                </a:solidFill>
              </a:rPr>
              <a:t>GitHub</a:t>
            </a:r>
          </a:p>
          <a:p>
            <a:r>
              <a:rPr lang="zh-CN" altLang="en-US" b="1" dirty="0"/>
              <a:t>项目愿景 </a:t>
            </a:r>
            <a:r>
              <a:rPr lang="en-US" altLang="zh-CN" b="1" dirty="0"/>
              <a:t>(</a:t>
            </a:r>
            <a:r>
              <a:rPr lang="en" altLang="zh-CN" b="1" dirty="0"/>
              <a:t>Vision):</a:t>
            </a:r>
            <a:r>
              <a:rPr lang="en" altLang="zh-CN" dirty="0"/>
              <a:t> </a:t>
            </a:r>
            <a:r>
              <a:rPr lang="zh-CN" altLang="en-US" dirty="0"/>
              <a:t>打造一个能“思考”和“规划”的智能烹饪助手，而不仅是“搜索</a:t>
            </a:r>
            <a:r>
              <a:rPr lang="en-US" altLang="zh-CN" dirty="0"/>
              <a:t>-</a:t>
            </a:r>
            <a:r>
              <a:rPr lang="zh-CN" altLang="en-US" dirty="0"/>
              <a:t>复述”。</a:t>
            </a:r>
          </a:p>
          <a:p>
            <a:r>
              <a:rPr lang="zh-CN" altLang="en-US" b="1" dirty="0"/>
              <a:t>核心功能 </a:t>
            </a:r>
            <a:r>
              <a:rPr lang="en-US" altLang="zh-CN" b="1" dirty="0"/>
              <a:t>(</a:t>
            </a:r>
            <a:r>
              <a:rPr lang="en" altLang="zh-CN" b="1" dirty="0"/>
              <a:t>Features):</a:t>
            </a:r>
            <a:r>
              <a:rPr lang="en" altLang="zh-CN" dirty="0"/>
              <a:t> </a:t>
            </a:r>
            <a:r>
              <a:rPr lang="zh-CN" altLang="en-US" dirty="0"/>
              <a:t>菜谱查询、步骤详解、烹饪技巧问答、食材替换建议等。</a:t>
            </a:r>
          </a:p>
          <a:p>
            <a:r>
              <a:rPr lang="zh-CN" altLang="en-US" b="1" dirty="0"/>
              <a:t>技术栈 </a:t>
            </a:r>
            <a:r>
              <a:rPr lang="en-US" altLang="zh-CN" b="1" dirty="0"/>
              <a:t>(</a:t>
            </a:r>
            <a:r>
              <a:rPr lang="en" altLang="zh-CN" b="1" dirty="0"/>
              <a:t>Tech Stack):</a:t>
            </a:r>
            <a:r>
              <a:rPr lang="en" altLang="zh-CN" dirty="0"/>
              <a:t> </a:t>
            </a:r>
            <a:r>
              <a:rPr lang="en" altLang="zh-CN" dirty="0" err="1"/>
              <a:t>LangChain</a:t>
            </a:r>
            <a:r>
              <a:rPr lang="en" altLang="zh-CN" dirty="0"/>
              <a:t> (</a:t>
            </a:r>
            <a:r>
              <a:rPr lang="zh-CN" altLang="en-US" dirty="0"/>
              <a:t>核心</a:t>
            </a:r>
            <a:r>
              <a:rPr lang="en-US" altLang="zh-CN" dirty="0"/>
              <a:t>)</a:t>
            </a:r>
            <a:r>
              <a:rPr lang="zh-CN" altLang="en-US" dirty="0"/>
              <a:t>、（你们用的</a:t>
            </a:r>
            <a:r>
              <a:rPr lang="en" altLang="zh-CN" dirty="0"/>
              <a:t>LLM</a:t>
            </a:r>
            <a:r>
              <a:rPr lang="zh-CN" altLang="en-US" dirty="0"/>
              <a:t>模型）、（你们用的</a:t>
            </a:r>
            <a:r>
              <a:rPr lang="en" altLang="zh-CN" dirty="0"/>
              <a:t>Embedding</a:t>
            </a:r>
            <a:r>
              <a:rPr lang="zh-CN" altLang="en-US" dirty="0"/>
              <a:t>模型）、（你们用的向量数据库）、</a:t>
            </a:r>
            <a:r>
              <a:rPr lang="en" altLang="zh-CN" dirty="0"/>
              <a:t>Ragas</a:t>
            </a:r>
            <a:r>
              <a:rPr lang="zh-CN" altLang="en" dirty="0"/>
              <a:t>（</a:t>
            </a:r>
            <a:r>
              <a:rPr lang="zh-CN" altLang="en-US" dirty="0"/>
              <a:t>评估）。</a:t>
            </a:r>
          </a:p>
          <a:p>
            <a:r>
              <a:rPr lang="zh-CN" altLang="en-US" b="1" dirty="0"/>
              <a:t>项目架构图 </a:t>
            </a:r>
            <a:r>
              <a:rPr lang="en-US" altLang="zh-CN" b="1" dirty="0"/>
              <a:t>(</a:t>
            </a:r>
            <a:r>
              <a:rPr lang="en" altLang="zh-CN" b="1" dirty="0"/>
              <a:t>Architecture):</a:t>
            </a:r>
            <a:r>
              <a:rPr lang="en" altLang="zh-CN" dirty="0"/>
              <a:t> </a:t>
            </a:r>
            <a:r>
              <a:rPr lang="zh-CN" altLang="en" b="1" dirty="0"/>
              <a:t>（</a:t>
            </a:r>
            <a:r>
              <a:rPr lang="zh-CN" altLang="en-US" b="1" dirty="0"/>
              <a:t>本页重点）</a:t>
            </a:r>
            <a:r>
              <a:rPr lang="zh-CN" altLang="en-US" dirty="0"/>
              <a:t> 绘制一个高层架构图，清晰展示数据流和组件（数据源、索引、</a:t>
            </a:r>
            <a:r>
              <a:rPr lang="en" altLang="zh-CN" dirty="0"/>
              <a:t>Agent</a:t>
            </a:r>
            <a:r>
              <a:rPr lang="zh-CN" altLang="en" dirty="0"/>
              <a:t>、</a:t>
            </a:r>
            <a:r>
              <a:rPr lang="en" altLang="zh-CN" dirty="0"/>
              <a:t>LLM</a:t>
            </a:r>
            <a:r>
              <a:rPr lang="zh-CN" altLang="en" dirty="0"/>
              <a:t>、</a:t>
            </a:r>
            <a:r>
              <a:rPr lang="zh-CN" altLang="en-US" dirty="0"/>
              <a:t>工具）。</a:t>
            </a:r>
          </a:p>
          <a:p>
            <a:endParaRPr kumimoji="1" lang="en-US" altLang="zh-CN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6CE45503-AA1C-4E70-A8A8-9AE3CA8615C3}"/>
              </a:ext>
            </a:extLst>
          </p:cNvPr>
          <p:cNvSpPr txBox="1"/>
          <p:nvPr/>
        </p:nvSpPr>
        <p:spPr>
          <a:xfrm>
            <a:off x="8223250" y="1311275"/>
            <a:ext cx="571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</a:rPr>
              <a:t>这一页介绍我们的数据来源和预处理</a:t>
            </a:r>
            <a:endParaRPr kumimoji="1" lang="en-US" altLang="zh-CN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9685" y="8135877"/>
            <a:ext cx="345539" cy="17276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74166" y="8135877"/>
            <a:ext cx="431924" cy="14135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18500" y="7020728"/>
            <a:ext cx="157063" cy="25130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41128" y="8135877"/>
            <a:ext cx="1028764" cy="1884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724774" y="7028581"/>
            <a:ext cx="204182" cy="24344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266641" y="7012875"/>
            <a:ext cx="141356" cy="26700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50232" y="3997260"/>
            <a:ext cx="4947493" cy="50260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10967" y="7224910"/>
            <a:ext cx="2858551" cy="298420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1350744" y="8135877"/>
            <a:ext cx="7429500" cy="283210"/>
            <a:chOff x="1350744" y="8135877"/>
            <a:chExt cx="7429500" cy="283210"/>
          </a:xfrm>
        </p:grpSpPr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50744" y="8135877"/>
              <a:ext cx="7429093" cy="28271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39685" y="8135877"/>
              <a:ext cx="345539" cy="17276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74166" y="8135877"/>
              <a:ext cx="431924" cy="14135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41128" y="8135877"/>
              <a:ext cx="1028764" cy="188475"/>
            </a:xfrm>
            <a:prstGeom prst="rect">
              <a:avLst/>
            </a:prstGeom>
          </p:spPr>
        </p:pic>
      </p:grpSp>
      <p:pic>
        <p:nvPicPr>
          <p:cNvPr id="15" name="object 1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50232" y="5057437"/>
            <a:ext cx="5316592" cy="337686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42379" y="5850607"/>
            <a:ext cx="6714455" cy="290567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10967" y="6541685"/>
            <a:ext cx="5646424" cy="290567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0413295" y="5858460"/>
            <a:ext cx="8379326" cy="282713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0845219" y="6329650"/>
            <a:ext cx="369098" cy="259154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2557209" y="7005022"/>
            <a:ext cx="3997260" cy="282713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342891" y="7688247"/>
            <a:ext cx="17559674" cy="439777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0444708" y="8261528"/>
            <a:ext cx="6384622" cy="345539"/>
          </a:xfrm>
          <a:prstGeom prst="rect">
            <a:avLst/>
          </a:prstGeom>
        </p:spPr>
      </p:pic>
      <p:sp>
        <p:nvSpPr>
          <p:cNvPr id="23" name="object 2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140"/>
              </a:spcBef>
            </a:pPr>
            <a:r>
              <a:rPr spc="-665" dirty="0">
                <a:solidFill>
                  <a:srgbClr val="C33F13"/>
                </a:solidFill>
              </a:rPr>
              <a:t>Phose</a:t>
            </a:r>
            <a:r>
              <a:rPr spc="-385" dirty="0">
                <a:solidFill>
                  <a:srgbClr val="C33F13"/>
                </a:solidFill>
              </a:rPr>
              <a:t> </a:t>
            </a:r>
            <a:r>
              <a:rPr spc="-1240" dirty="0">
                <a:solidFill>
                  <a:srgbClr val="C63F0C"/>
                </a:solidFill>
              </a:rPr>
              <a:t>J:</a:t>
            </a:r>
            <a:r>
              <a:rPr spc="-635" dirty="0">
                <a:solidFill>
                  <a:srgbClr val="C63F0C"/>
                </a:solidFill>
              </a:rPr>
              <a:t> </a:t>
            </a:r>
            <a:r>
              <a:rPr spc="-940" dirty="0">
                <a:solidFill>
                  <a:srgbClr val="BF420F"/>
                </a:solidFill>
              </a:rPr>
              <a:t>§tț|—</a:t>
            </a:r>
            <a:r>
              <a:rPr spc="-805" dirty="0">
                <a:solidFill>
                  <a:srgbClr val="BF420F"/>
                </a:solidFill>
              </a:rPr>
              <a:t>*Șț§,/{</a:t>
            </a:r>
            <a:r>
              <a:rPr spc="-35" dirty="0">
                <a:solidFill>
                  <a:srgbClr val="BF420F"/>
                </a:solidFill>
              </a:rPr>
              <a:t> </a:t>
            </a:r>
            <a:r>
              <a:rPr spc="-495" dirty="0">
                <a:solidFill>
                  <a:srgbClr val="BF420A"/>
                </a:solidFill>
              </a:rPr>
              <a:t>(Embedding)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0410349" y="3828151"/>
            <a:ext cx="5059680" cy="15894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4925">
              <a:lnSpc>
                <a:spcPct val="100000"/>
              </a:lnSpc>
              <a:spcBef>
                <a:spcPts val="105"/>
              </a:spcBef>
              <a:tabLst>
                <a:tab pos="3108960" algn="l"/>
              </a:tabLst>
            </a:pPr>
            <a:r>
              <a:rPr sz="4500" spc="-610" dirty="0">
                <a:solidFill>
                  <a:srgbClr val="E25911"/>
                </a:solidFill>
                <a:latin typeface="Arial Black"/>
                <a:cs typeface="Arial Black"/>
              </a:rPr>
              <a:t>2.</a:t>
            </a:r>
            <a:r>
              <a:rPr sz="4500" spc="-640" dirty="0">
                <a:solidFill>
                  <a:srgbClr val="E25911"/>
                </a:solidFill>
                <a:latin typeface="Arial Black"/>
                <a:cs typeface="Arial Black"/>
              </a:rPr>
              <a:t> </a:t>
            </a:r>
            <a:r>
              <a:rPr sz="4500" spc="-10" dirty="0">
                <a:solidFill>
                  <a:srgbClr val="EB5E07"/>
                </a:solidFill>
                <a:latin typeface="Arial Black"/>
                <a:cs typeface="Arial Black"/>
              </a:rPr>
              <a:t>@ș{t@@</a:t>
            </a:r>
            <a:r>
              <a:rPr sz="4500" dirty="0">
                <a:solidFill>
                  <a:srgbClr val="EB5E07"/>
                </a:solidFill>
                <a:latin typeface="Arial Black"/>
                <a:cs typeface="Arial Black"/>
              </a:rPr>
              <a:t>	</a:t>
            </a:r>
            <a:r>
              <a:rPr sz="4500" spc="-760" dirty="0">
                <a:solidFill>
                  <a:srgbClr val="F05D13"/>
                </a:solidFill>
                <a:latin typeface="Arial Black"/>
                <a:cs typeface="Arial Black"/>
              </a:rPr>
              <a:t>jQ,7yț@@</a:t>
            </a:r>
            <a:endParaRPr sz="45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3535"/>
              </a:spcBef>
              <a:tabLst>
                <a:tab pos="2230120" algn="l"/>
              </a:tabLst>
            </a:pPr>
            <a:r>
              <a:rPr sz="2800" spc="-270" dirty="0">
                <a:solidFill>
                  <a:srgbClr val="2F2F2F"/>
                </a:solidFill>
                <a:latin typeface="Arial Black"/>
                <a:cs typeface="Arial Black"/>
              </a:rPr>
              <a:t>1îi17îLLT</a:t>
            </a:r>
            <a:r>
              <a:rPr sz="2800" dirty="0">
                <a:solidFill>
                  <a:srgbClr val="2F2F2F"/>
                </a:solidFill>
                <a:latin typeface="Arial Black"/>
                <a:cs typeface="Arial Black"/>
              </a:rPr>
              <a:t>	</a:t>
            </a:r>
            <a:r>
              <a:rPr sz="2800" spc="-605" dirty="0">
                <a:solidFill>
                  <a:srgbClr val="282828"/>
                </a:solidFill>
                <a:latin typeface="Arial Black"/>
                <a:cs typeface="Arial Black"/>
              </a:rPr>
              <a:t>Embeddingț@</a:t>
            </a:r>
            <a:endParaRPr sz="2800">
              <a:latin typeface="Arial Black"/>
              <a:cs typeface="Arial Blac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401530" y="6909209"/>
            <a:ext cx="2161540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28625" algn="l"/>
              </a:tabLst>
            </a:pPr>
            <a:r>
              <a:rPr sz="2450" spc="-650" dirty="0">
                <a:solidFill>
                  <a:srgbClr val="363636"/>
                </a:solidFill>
                <a:latin typeface="Arial Black"/>
                <a:cs typeface="Arial Black"/>
              </a:rPr>
              <a:t>@</a:t>
            </a:r>
            <a:r>
              <a:rPr sz="2450" dirty="0">
                <a:solidFill>
                  <a:srgbClr val="363636"/>
                </a:solidFill>
                <a:latin typeface="Arial Black"/>
                <a:cs typeface="Arial Black"/>
              </a:rPr>
              <a:t>	</a:t>
            </a:r>
            <a:r>
              <a:rPr sz="2450" spc="-430" dirty="0">
                <a:solidFill>
                  <a:srgbClr val="333333"/>
                </a:solidFill>
                <a:latin typeface="Arial Black"/>
                <a:cs typeface="Arial Black"/>
              </a:rPr>
              <a:t>@2§lB</a:t>
            </a:r>
            <a:r>
              <a:rPr sz="2450" spc="-215" dirty="0">
                <a:solidFill>
                  <a:srgbClr val="333333"/>
                </a:solidFill>
                <a:latin typeface="Arial Black"/>
                <a:cs typeface="Arial Black"/>
              </a:rPr>
              <a:t> </a:t>
            </a:r>
            <a:r>
              <a:rPr sz="2450" spc="-400" dirty="0">
                <a:solidFill>
                  <a:srgbClr val="2F2F2F"/>
                </a:solidFill>
                <a:latin typeface="Arial Black"/>
                <a:cs typeface="Arial Black"/>
              </a:rPr>
              <a:t>(e.g.,</a:t>
            </a:r>
            <a:r>
              <a:rPr sz="2450" spc="-325" dirty="0">
                <a:solidFill>
                  <a:srgbClr val="2F2F2F"/>
                </a:solidFill>
                <a:latin typeface="Arial Black"/>
                <a:cs typeface="Arial Black"/>
              </a:rPr>
              <a:t> </a:t>
            </a:r>
            <a:r>
              <a:rPr sz="2450" spc="-490" dirty="0">
                <a:solidFill>
                  <a:srgbClr val="2D2D2D"/>
                </a:solidFill>
                <a:latin typeface="Arial Black"/>
                <a:cs typeface="Arial Black"/>
              </a:rPr>
              <a:t>bg</a:t>
            </a:r>
            <a:endParaRPr sz="2450">
              <a:latin typeface="Arial Black"/>
              <a:cs typeface="Arial Black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D53D03E-B7AA-490E-60B3-FAE0221662FE}"/>
              </a:ext>
            </a:extLst>
          </p:cNvPr>
          <p:cNvSpPr txBox="1"/>
          <p:nvPr/>
        </p:nvSpPr>
        <p:spPr>
          <a:xfrm>
            <a:off x="11111795" y="1322010"/>
            <a:ext cx="5715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</a:rPr>
              <a:t>这一页左边介绍我们的分块策略及其对比结果，右边介绍使用的嵌入模型</a:t>
            </a:r>
            <a:endParaRPr kumimoji="1" lang="en-US" altLang="zh-CN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2B9DAADD-F707-0551-E60A-8FD39F4FE507}"/>
              </a:ext>
            </a:extLst>
          </p:cNvPr>
          <p:cNvSpPr txBox="1"/>
          <p:nvPr/>
        </p:nvSpPr>
        <p:spPr>
          <a:xfrm>
            <a:off x="7461250" y="1768475"/>
            <a:ext cx="57150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</a:rPr>
              <a:t>这一页左边介绍我们的检索策略，右边介绍重排策略，或者整页画一个流程图，体现</a:t>
            </a:r>
            <a:r>
              <a:rPr kumimoji="1" lang="en-US" altLang="zh-CN" dirty="0" err="1">
                <a:solidFill>
                  <a:srgbClr val="FF0000"/>
                </a:solidFill>
              </a:rPr>
              <a:t>agentrag</a:t>
            </a:r>
            <a:r>
              <a:rPr kumimoji="1" lang="zh-CN" altLang="en-US" dirty="0">
                <a:solidFill>
                  <a:srgbClr val="FF0000"/>
                </a:solidFill>
              </a:rPr>
              <a:t>边观察边检索边思考的特点。</a:t>
            </a:r>
            <a:br>
              <a:rPr kumimoji="1" lang="en-US" altLang="zh-CN" dirty="0">
                <a:solidFill>
                  <a:srgbClr val="FF0000"/>
                </a:solidFill>
              </a:rPr>
            </a:br>
            <a:r>
              <a:rPr kumimoji="1" lang="zh-CN" altLang="en-US" dirty="0">
                <a:solidFill>
                  <a:srgbClr val="FF0000"/>
                </a:solidFill>
              </a:rPr>
              <a:t>参考：</a:t>
            </a:r>
            <a:br>
              <a:rPr kumimoji="1" lang="en-US" altLang="zh-CN" dirty="0">
                <a:solidFill>
                  <a:srgbClr val="FF0000"/>
                </a:solidFill>
              </a:rPr>
            </a:br>
            <a:r>
              <a:rPr lang="zh-CN" altLang="en-US" b="1" dirty="0"/>
              <a:t>示例流程图：</a:t>
            </a:r>
            <a:endParaRPr lang="zh-CN" altLang="en-US" dirty="0"/>
          </a:p>
          <a:p>
            <a:pPr lvl="1"/>
            <a:r>
              <a:rPr lang="en-US" altLang="zh-CN" b="1" dirty="0"/>
              <a:t>[</a:t>
            </a:r>
            <a:r>
              <a:rPr lang="zh-CN" altLang="en-US" b="1" dirty="0"/>
              <a:t>用户</a:t>
            </a:r>
            <a:r>
              <a:rPr lang="en-US" altLang="zh-CN" b="1" dirty="0"/>
              <a:t>]</a:t>
            </a:r>
            <a:r>
              <a:rPr lang="zh-CN" altLang="en-US" dirty="0"/>
              <a:t> </a:t>
            </a:r>
            <a:r>
              <a:rPr lang="en-US" altLang="zh-CN" dirty="0"/>
              <a:t>"</a:t>
            </a:r>
            <a:r>
              <a:rPr lang="zh-CN" altLang="en-US" dirty="0"/>
              <a:t>我想做个麻婆豆腐，但我不吃辣</a:t>
            </a:r>
            <a:r>
              <a:rPr lang="en-US" altLang="zh-CN" dirty="0"/>
              <a:t>"</a:t>
            </a:r>
          </a:p>
          <a:p>
            <a:pPr lvl="1"/>
            <a:r>
              <a:rPr lang="en-US" altLang="zh-CN" b="1" dirty="0"/>
              <a:t>[</a:t>
            </a:r>
            <a:r>
              <a:rPr lang="en" altLang="zh-CN" b="1" dirty="0"/>
              <a:t>Agent </a:t>
            </a:r>
            <a:r>
              <a:rPr lang="zh-CN" altLang="en-US" b="1" dirty="0"/>
              <a:t>思考</a:t>
            </a:r>
            <a:r>
              <a:rPr lang="en-US" altLang="zh-CN" b="1" dirty="0"/>
              <a:t>]</a:t>
            </a:r>
            <a:r>
              <a:rPr lang="zh-CN" altLang="en-US" dirty="0"/>
              <a:t> </a:t>
            </a:r>
            <a:r>
              <a:rPr lang="en-US" altLang="zh-CN" dirty="0"/>
              <a:t>"</a:t>
            </a:r>
            <a:r>
              <a:rPr lang="zh-CN" altLang="en-US" dirty="0"/>
              <a:t>任务分解：</a:t>
            </a:r>
            <a:r>
              <a:rPr lang="en-US" altLang="zh-CN" dirty="0"/>
              <a:t>1. </a:t>
            </a:r>
            <a:r>
              <a:rPr lang="zh-CN" altLang="en-US" dirty="0"/>
              <a:t>找到麻婆豆腐菜谱。 </a:t>
            </a:r>
            <a:r>
              <a:rPr lang="en-US" altLang="zh-CN" dirty="0"/>
              <a:t>2. </a:t>
            </a:r>
            <a:r>
              <a:rPr lang="zh-CN" altLang="en-US" dirty="0"/>
              <a:t>找到去辣的改良方法。</a:t>
            </a:r>
            <a:r>
              <a:rPr lang="en-US" altLang="zh-CN" dirty="0"/>
              <a:t>"</a:t>
            </a:r>
          </a:p>
          <a:p>
            <a:pPr lvl="1"/>
            <a:r>
              <a:rPr lang="en-US" altLang="zh-CN" b="1" dirty="0"/>
              <a:t>[</a:t>
            </a:r>
            <a:r>
              <a:rPr lang="en" altLang="zh-CN" b="1" dirty="0"/>
              <a:t>Agent </a:t>
            </a:r>
            <a:r>
              <a:rPr lang="zh-CN" altLang="en-US" b="1" dirty="0"/>
              <a:t>动作</a:t>
            </a:r>
            <a:r>
              <a:rPr lang="en-US" altLang="zh-CN" b="1" dirty="0"/>
              <a:t>]</a:t>
            </a:r>
            <a:r>
              <a:rPr lang="zh-CN" altLang="en-US" dirty="0"/>
              <a:t> </a:t>
            </a:r>
            <a:r>
              <a:rPr lang="en-US" altLang="zh-CN" dirty="0"/>
              <a:t>-&gt; </a:t>
            </a:r>
            <a:r>
              <a:rPr lang="en" altLang="zh-CN" dirty="0"/>
              <a:t>Tool: search("</a:t>
            </a:r>
            <a:r>
              <a:rPr lang="zh-CN" altLang="en-US" dirty="0"/>
              <a:t>麻婆豆腐 菜谱</a:t>
            </a:r>
            <a:r>
              <a:rPr lang="en-US" altLang="zh-CN" dirty="0"/>
              <a:t>")</a:t>
            </a:r>
            <a:endParaRPr lang="zh-CN" altLang="en-US" dirty="0"/>
          </a:p>
          <a:p>
            <a:pPr lvl="1"/>
            <a:r>
              <a:rPr lang="en-US" altLang="zh-CN" b="1" dirty="0"/>
              <a:t>[</a:t>
            </a:r>
            <a:r>
              <a:rPr lang="en" altLang="zh-CN" b="1" dirty="0"/>
              <a:t>Agent </a:t>
            </a:r>
            <a:r>
              <a:rPr lang="zh-CN" altLang="en-US" b="1" dirty="0"/>
              <a:t>观察</a:t>
            </a:r>
            <a:r>
              <a:rPr lang="en-US" altLang="zh-CN" b="1" dirty="0"/>
              <a:t>]</a:t>
            </a:r>
            <a:r>
              <a:rPr lang="zh-CN" altLang="en-US" dirty="0"/>
              <a:t> </a:t>
            </a:r>
            <a:r>
              <a:rPr lang="en-US" altLang="zh-CN" dirty="0"/>
              <a:t>-&gt; </a:t>
            </a:r>
            <a:r>
              <a:rPr lang="zh-CN" altLang="en-US" dirty="0"/>
              <a:t>获得“菜谱</a:t>
            </a:r>
            <a:r>
              <a:rPr lang="en" altLang="zh-CN" dirty="0"/>
              <a:t>A”</a:t>
            </a:r>
          </a:p>
          <a:p>
            <a:pPr lvl="1"/>
            <a:r>
              <a:rPr lang="en" altLang="zh-CN" b="1" dirty="0"/>
              <a:t>[Agent </a:t>
            </a:r>
            <a:r>
              <a:rPr lang="zh-CN" altLang="en-US" b="1" dirty="0"/>
              <a:t>思考</a:t>
            </a:r>
            <a:r>
              <a:rPr lang="en-US" altLang="zh-CN" b="1" dirty="0"/>
              <a:t>]</a:t>
            </a:r>
            <a:r>
              <a:rPr lang="zh-CN" altLang="en-US" dirty="0"/>
              <a:t> </a:t>
            </a:r>
            <a:r>
              <a:rPr lang="en-US" altLang="zh-CN" dirty="0"/>
              <a:t>"</a:t>
            </a:r>
            <a:r>
              <a:rPr lang="zh-CN" altLang="en-US" dirty="0"/>
              <a:t>已获得菜谱。现在需要解决‘不吃辣’的问题。</a:t>
            </a:r>
            <a:r>
              <a:rPr lang="en-US" altLang="zh-CN" dirty="0"/>
              <a:t>"</a:t>
            </a:r>
          </a:p>
          <a:p>
            <a:pPr lvl="1"/>
            <a:r>
              <a:rPr lang="en-US" altLang="zh-CN" b="1" dirty="0"/>
              <a:t>[</a:t>
            </a:r>
            <a:r>
              <a:rPr lang="en" altLang="zh-CN" b="1" dirty="0"/>
              <a:t>Agent </a:t>
            </a:r>
            <a:r>
              <a:rPr lang="zh-CN" altLang="en-US" b="1" dirty="0"/>
              <a:t>动作</a:t>
            </a:r>
            <a:r>
              <a:rPr lang="en-US" altLang="zh-CN" b="1" dirty="0"/>
              <a:t>]</a:t>
            </a:r>
            <a:r>
              <a:rPr lang="zh-CN" altLang="en-US" dirty="0"/>
              <a:t> </a:t>
            </a:r>
            <a:r>
              <a:rPr lang="en-US" altLang="zh-CN" dirty="0"/>
              <a:t>-&gt; </a:t>
            </a:r>
            <a:r>
              <a:rPr lang="en" altLang="zh-CN" dirty="0"/>
              <a:t>Tool: search("</a:t>
            </a:r>
            <a:r>
              <a:rPr lang="zh-CN" altLang="en-US" dirty="0"/>
              <a:t>麻婆豆腐 不辣 做法</a:t>
            </a:r>
            <a:r>
              <a:rPr lang="en-US" altLang="zh-CN" dirty="0"/>
              <a:t>")</a:t>
            </a:r>
            <a:endParaRPr lang="zh-CN" altLang="en-US" dirty="0"/>
          </a:p>
          <a:p>
            <a:pPr lvl="1"/>
            <a:r>
              <a:rPr lang="en-US" altLang="zh-CN" b="1" dirty="0"/>
              <a:t>[</a:t>
            </a:r>
            <a:r>
              <a:rPr lang="en" altLang="zh-CN" b="1" dirty="0"/>
              <a:t>Agent </a:t>
            </a:r>
            <a:r>
              <a:rPr lang="zh-CN" altLang="en-US" b="1" dirty="0"/>
              <a:t>观察</a:t>
            </a:r>
            <a:r>
              <a:rPr lang="en-US" altLang="zh-CN" b="1" dirty="0"/>
              <a:t>]</a:t>
            </a:r>
            <a:r>
              <a:rPr lang="zh-CN" altLang="en-US" dirty="0"/>
              <a:t> </a:t>
            </a:r>
            <a:r>
              <a:rPr lang="en-US" altLang="zh-CN" dirty="0"/>
              <a:t>-&gt; </a:t>
            </a:r>
            <a:r>
              <a:rPr lang="zh-CN" altLang="en-US" dirty="0"/>
              <a:t>获得“技巧</a:t>
            </a:r>
            <a:r>
              <a:rPr lang="en" altLang="zh-CN" dirty="0"/>
              <a:t>B</a:t>
            </a:r>
            <a:r>
              <a:rPr lang="zh-CN" altLang="en" dirty="0"/>
              <a:t>：</a:t>
            </a:r>
            <a:r>
              <a:rPr lang="zh-CN" altLang="en-US" dirty="0"/>
              <a:t>用</a:t>
            </a:r>
            <a:r>
              <a:rPr lang="en" altLang="zh-CN" dirty="0"/>
              <a:t>XX</a:t>
            </a:r>
            <a:r>
              <a:rPr lang="zh-CN" altLang="en-US" dirty="0"/>
              <a:t>代替豆瓣酱”</a:t>
            </a:r>
          </a:p>
          <a:p>
            <a:pPr lvl="1"/>
            <a:r>
              <a:rPr lang="en-US" altLang="zh-CN" b="1" dirty="0"/>
              <a:t>[</a:t>
            </a:r>
            <a:r>
              <a:rPr lang="en" altLang="zh-CN" b="1" dirty="0"/>
              <a:t>Agent </a:t>
            </a:r>
            <a:r>
              <a:rPr lang="zh-CN" altLang="en-US" b="1" dirty="0"/>
              <a:t>思考</a:t>
            </a:r>
            <a:r>
              <a:rPr lang="en-US" altLang="zh-CN" b="1" dirty="0"/>
              <a:t>]</a:t>
            </a:r>
            <a:r>
              <a:rPr lang="zh-CN" altLang="en-US" dirty="0"/>
              <a:t> </a:t>
            </a:r>
            <a:r>
              <a:rPr lang="en-US" altLang="zh-CN" dirty="0"/>
              <a:t>"</a:t>
            </a:r>
            <a:r>
              <a:rPr lang="zh-CN" altLang="en-US" dirty="0"/>
              <a:t>材料已齐。整合菜谱</a:t>
            </a:r>
            <a:r>
              <a:rPr lang="en" altLang="zh-CN" dirty="0"/>
              <a:t>A</a:t>
            </a:r>
            <a:r>
              <a:rPr lang="zh-CN" altLang="en-US" dirty="0"/>
              <a:t>和技巧</a:t>
            </a:r>
            <a:r>
              <a:rPr lang="en" altLang="zh-CN" dirty="0"/>
              <a:t>B</a:t>
            </a:r>
            <a:r>
              <a:rPr lang="zh-CN" altLang="en" dirty="0"/>
              <a:t>。</a:t>
            </a:r>
            <a:r>
              <a:rPr lang="en" altLang="zh-CN" dirty="0"/>
              <a:t>"</a:t>
            </a:r>
          </a:p>
          <a:p>
            <a:pPr lvl="1"/>
            <a:r>
              <a:rPr lang="en" altLang="zh-CN" b="1" dirty="0"/>
              <a:t>[Agent </a:t>
            </a:r>
            <a:r>
              <a:rPr lang="zh-CN" altLang="en-US" b="1" dirty="0"/>
              <a:t>生成</a:t>
            </a:r>
            <a:r>
              <a:rPr lang="en-US" altLang="zh-CN" b="1" dirty="0"/>
              <a:t>]</a:t>
            </a:r>
            <a:r>
              <a:rPr lang="zh-CN" altLang="en-US" dirty="0"/>
              <a:t> </a:t>
            </a:r>
            <a:r>
              <a:rPr lang="en-US" altLang="zh-CN" dirty="0"/>
              <a:t>-&gt;</a:t>
            </a:r>
            <a:r>
              <a:rPr lang="zh-CN" altLang="en-US" dirty="0"/>
              <a:t>向用户输出“为您找到了麻婆豆腐的菜谱，并做了去辣改良：</a:t>
            </a:r>
            <a:r>
              <a:rPr lang="en-US" altLang="zh-CN" dirty="0"/>
              <a:t>...”</a:t>
            </a:r>
          </a:p>
          <a:p>
            <a:r>
              <a:rPr lang="zh-CN" altLang="en-US" i="1" dirty="0"/>
              <a:t>这张图能把</a:t>
            </a:r>
            <a:r>
              <a:rPr lang="zh-CN" altLang="en-US" dirty="0"/>
              <a:t> </a:t>
            </a:r>
            <a:r>
              <a:rPr lang="en" altLang="zh-CN" dirty="0" err="1"/>
              <a:t>LangChain</a:t>
            </a:r>
            <a:r>
              <a:rPr lang="en" altLang="zh-CN" dirty="0"/>
              <a:t> Agent </a:t>
            </a:r>
            <a:r>
              <a:rPr lang="zh-CN" altLang="en-US" dirty="0"/>
              <a:t>的精髓（</a:t>
            </a:r>
            <a:r>
              <a:rPr lang="en" altLang="zh-CN" dirty="0" err="1"/>
              <a:t>ReAct</a:t>
            </a:r>
            <a:r>
              <a:rPr lang="en" altLang="zh-CN" i="1" dirty="0"/>
              <a:t> </a:t>
            </a:r>
            <a:r>
              <a:rPr lang="zh-CN" altLang="en-US" i="1" dirty="0"/>
              <a:t>框架）讲得非常透彻。</a:t>
            </a:r>
            <a:endParaRPr lang="zh-CN" altLang="en-US" dirty="0"/>
          </a:p>
          <a:p>
            <a:endParaRPr kumimoji="1" lang="en-US" altLang="zh-CN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245F686C-5BDE-054F-C3E7-31380988CF83}"/>
              </a:ext>
            </a:extLst>
          </p:cNvPr>
          <p:cNvSpPr txBox="1"/>
          <p:nvPr/>
        </p:nvSpPr>
        <p:spPr>
          <a:xfrm>
            <a:off x="6089650" y="396875"/>
            <a:ext cx="5715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</a:rPr>
              <a:t>这一页介绍我们的评估数据集和在评估数据集上 对我们的项目所做的评测，包括提到的几个指标，以及使用</a:t>
            </a:r>
            <a:r>
              <a:rPr kumimoji="1" lang="en-US" altLang="zh-CN" dirty="0">
                <a:solidFill>
                  <a:srgbClr val="FF0000"/>
                </a:solidFill>
              </a:rPr>
              <a:t>ragas</a:t>
            </a:r>
            <a:r>
              <a:rPr kumimoji="1" lang="zh-CN" altLang="en-US" dirty="0">
                <a:solidFill>
                  <a:srgbClr val="FF0000"/>
                </a:solidFill>
              </a:rPr>
              <a:t>做评测的结果</a:t>
            </a:r>
            <a:endParaRPr kumimoji="1" lang="en-US" altLang="zh-CN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4948E-3B32-949F-2F17-5AB5A9E39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7ECB9139-F06B-4F14-99F0-37C0B390462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E8FA3A5E-A909-726A-1886-2BBD46F43454}"/>
              </a:ext>
            </a:extLst>
          </p:cNvPr>
          <p:cNvSpPr txBox="1"/>
          <p:nvPr/>
        </p:nvSpPr>
        <p:spPr>
          <a:xfrm>
            <a:off x="6089650" y="396875"/>
            <a:ext cx="5715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</a:rPr>
              <a:t>这一页介绍</a:t>
            </a:r>
            <a:r>
              <a:rPr kumimoji="1" lang="en-US" altLang="zh-CN" dirty="0">
                <a:solidFill>
                  <a:srgbClr val="FF0000"/>
                </a:solidFill>
              </a:rPr>
              <a:t>case</a:t>
            </a:r>
            <a:r>
              <a:rPr kumimoji="1" lang="zh-CN" altLang="en-US" dirty="0">
                <a:solidFill>
                  <a:srgbClr val="FF0000"/>
                </a:solidFill>
              </a:rPr>
              <a:t>分析，针对检索错、召回错、</a:t>
            </a:r>
            <a:r>
              <a:rPr kumimoji="1" lang="en-US" altLang="zh-CN" dirty="0">
                <a:solidFill>
                  <a:srgbClr val="FF0000"/>
                </a:solidFill>
              </a:rPr>
              <a:t>xx</a:t>
            </a:r>
            <a:r>
              <a:rPr kumimoji="1" lang="zh-CN" altLang="en-US" dirty="0">
                <a:solidFill>
                  <a:srgbClr val="FF0000"/>
                </a:solidFill>
              </a:rPr>
              <a:t>错等弄一些分析报告。</a:t>
            </a:r>
            <a:endParaRPr kumimoji="1" lang="en-US" altLang="zh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3975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27D6A-4713-B287-9A3F-21105FEF7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ACA42696-BBF2-26CE-A1E3-75A7DE8BCE5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7924003A-7DAF-979D-9D49-E2DAAC2D78A2}"/>
              </a:ext>
            </a:extLst>
          </p:cNvPr>
          <p:cNvSpPr txBox="1"/>
          <p:nvPr/>
        </p:nvSpPr>
        <p:spPr>
          <a:xfrm>
            <a:off x="6089650" y="396875"/>
            <a:ext cx="5715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</a:rPr>
              <a:t>这一页是</a:t>
            </a:r>
            <a:r>
              <a:rPr kumimoji="1" lang="en-US" altLang="zh-CN" dirty="0">
                <a:solidFill>
                  <a:srgbClr val="FF0000"/>
                </a:solidFill>
              </a:rPr>
              <a:t>demo</a:t>
            </a:r>
            <a:r>
              <a:rPr kumimoji="1" lang="zh-CN" altLang="en-US" dirty="0">
                <a:solidFill>
                  <a:srgbClr val="FF0000"/>
                </a:solidFill>
              </a:rPr>
              <a:t>演示，同时介绍我们的</a:t>
            </a:r>
            <a:r>
              <a:rPr kumimoji="1" lang="en-US" altLang="zh-CN" dirty="0">
                <a:solidFill>
                  <a:srgbClr val="FF0000"/>
                </a:solidFill>
              </a:rPr>
              <a:t>GitHub</a:t>
            </a:r>
            <a:r>
              <a:rPr kumimoji="1" lang="zh-CN" altLang="en-US" dirty="0">
                <a:solidFill>
                  <a:srgbClr val="FF0000"/>
                </a:solidFill>
              </a:rPr>
              <a:t>项目，贴出链接，鼓励大家试用和</a:t>
            </a:r>
            <a:r>
              <a:rPr kumimoji="1" lang="en-US" altLang="zh-CN" dirty="0">
                <a:solidFill>
                  <a:srgbClr val="FF0000"/>
                </a:solidFill>
              </a:rPr>
              <a:t>star</a:t>
            </a:r>
          </a:p>
        </p:txBody>
      </p:sp>
    </p:spTree>
    <p:extLst>
      <p:ext uri="{BB962C8B-B14F-4D97-AF65-F5344CB8AC3E}">
        <p14:creationId xmlns:p14="http://schemas.microsoft.com/office/powerpoint/2010/main" val="14909918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</TotalTime>
  <Words>702</Words>
  <Application>Microsoft Macintosh PowerPoint</Application>
  <PresentationFormat>自定义</PresentationFormat>
  <Paragraphs>31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7" baseType="lpstr">
      <vt:lpstr>Arial Black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Phose J: §tț|—*Șț§,/{ (Embedding)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cp:lastModifiedBy>1278352915@qq.com</cp:lastModifiedBy>
  <cp:revision>3</cp:revision>
  <dcterms:created xsi:type="dcterms:W3CDTF">2025-11-10T06:01:44Z</dcterms:created>
  <dcterms:modified xsi:type="dcterms:W3CDTF">2025-11-10T06:46:10Z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2025-11-07T00:00:00Z</vt:filetime>
  </property>
  <property fmtid="{D5CDD505-2E9C-101B-9397-08002B2CF9AE}" pid="3" name="LastSaved">
    <vt:filetime>2025-11-10T00:00:00Z</vt:filetime>
  </property>
</Properties>
</file>